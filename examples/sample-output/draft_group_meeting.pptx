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论文一句话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01/10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4066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研一文献组会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45820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121C2D"/>
                </a:solidFill>
                <a:latin typeface="Microsoft YaHei"/>
              </a:rPr>
              <a:t>一种面向低资源实验室的多重病原体快速检测方法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8183879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6A768C"/>
                </a:solidFill>
                <a:latin typeface="Microsoft YaHei"/>
              </a:rPr>
              <a:t>A multiplex rapid assay for pathogen detection in low-resource laboratories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512064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4005072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950208"/>
            <a:ext cx="30632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这篇论文提出了一种把多重扩增、空间编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码和荧光读出结合起来的快速检测流程，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用于在低资源场景中同时识别多种病原体……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794760"/>
            <a:ext cx="507492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4005072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968496"/>
            <a:ext cx="30175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15分钟汇报</a:t>
            </a:r>
          </a:p>
          <a:p>
            <a:pPr>
              <a:defRPr sz="1700">
                <a:solidFill>
                  <a:srgbClr val="252D3C"/>
                </a:solidFill>
                <a:latin typeface="Microsoft YaHei"/>
              </a:defRPr>
            </a:pPr>
            <a:r>
              <a:t>数字微流控与多重核酸检测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为什么要读这篇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说明问题背景和研究动机。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传统单靶标检测在多病原体共感染或症状相似场景下效率低，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且需要较复杂的仪器和实验流程。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核心信息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1句话结论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2—3条证据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1个需要核对的点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作者的核心思路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把论文方法路线拆成 3—5 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设计多组靶标引物并进行扩增效率筛选 →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把不同靶标映射到空间或通道编码 →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使用荧光读出识别阳性反应 →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通过阈值和编码规则完成靶标判定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方法路线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1. 设计多组靶标引物并进行扩增效率筛选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2. 把不同靶标映射到空间或通道编码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3. 使用荧光读出识别阳性反应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4. 通过阈值和编码规则完成靶标判定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实验/系统流程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用流程图或关键示意图讲清楚从输入到输出。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建议优先使用：Fig. 1、Fig. 2、Fig.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4。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流程图占位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输入 → 处理 → 读出 → 判定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优先放论文 workflow / schematic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关键图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选择最能说明整体框架的图。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讲图之前先说：这张图回答了什么问题。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Fig.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讲清楚整体工作流和检测场景；先用这张图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让听众知道作者解决什么问题，以及样本从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输入到判定经历哪些步骤。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关键图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选择最能说明方法有效性的图。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不要只翻译 caption，要解释它支持了哪个结论。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Fig.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解释引物筛选和靶标设计；重点说明作者如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何选择靶区，以及筛选标准是否足够可靠。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关键结果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总结作者最重要的发现。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该方法可以在单次反应中区分多个靶标；编码读出降低了多靶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标检测的解释复杂度；作者在模拟样本和部分真实样本中验证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了检测流程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结果表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该方法可以在单次反应中区分多个靶标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编码读出降低了多靶标检测的解释复杂度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作者在模拟样本和部分真实样本中验证了检测流程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局限和风险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主动说出论文不够强的地方。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样本量较小，真实临床泛化能力仍需进一步验证；多靶标扩增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可能存在引物互相干扰；阈值选择和背景噪声处理会影响最终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风险清单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样本量较小，真实临床泛化能力仍需进一步验证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多靶标扩增可能存在引物互相干扰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阈值选择和背景噪声处理会影响最终判定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和我课题的关系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09/10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把论文价值拉回自己的方向。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这篇论文的空间编码和多靶标读出思路，可以为我的数字微腔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检测课题提供实验设计和结果展示参考。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迁移价值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我能复用什么？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第一步实验怎么设计？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C67FF"/>
                </a:solidFill>
                <a:latin typeface="Microsoft YaHei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0116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121C2D"/>
                </a:solidFill>
                <a:latin typeface="Microsoft YaHei"/>
              </a:rPr>
              <a:t>老师可能追问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83464"/>
            <a:ext cx="1325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6A768C"/>
                </a:solidFill>
                <a:latin typeface="Microsoft YaHei"/>
              </a:rPr>
              <a:t>10/10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201400" cy="18288"/>
          </a:xfrm>
          <a:prstGeom prst="rect">
            <a:avLst/>
          </a:prstGeom>
          <a:solidFill>
            <a:srgbClr val="E5F0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1143000" cy="310896"/>
          </a:xfrm>
          <a:prstGeom prst="roundRect">
            <a:avLst/>
          </a:prstGeom>
          <a:solidFill>
            <a:srgbClr val="00ADB5"/>
          </a:solidFill>
          <a:ln>
            <a:solidFill>
              <a:srgbClr val="00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这一页目的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48006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提前准备 3—5 个追问和回答方向。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1143000" cy="310896"/>
          </a:xfrm>
          <a:prstGeom prst="roundRect">
            <a:avLst/>
          </a:prstGeom>
          <a:solidFill>
            <a:srgbClr val="2C67FF"/>
          </a:solidFill>
          <a:ln>
            <a:solidFill>
              <a:srgbClr val="2C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你应该讲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53512"/>
            <a:ext cx="539496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470916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方法可靠性、样本量、对照实验、泛化能力、和自己课题的关</a:t>
            </a:r>
          </a:p>
          <a:p>
            <a:pPr>
              <a:defRPr sz="2000">
                <a:solidFill>
                  <a:srgbClr val="252D3C"/>
                </a:solidFill>
                <a:latin typeface="Microsoft YaHei"/>
              </a:defRPr>
            </a:pPr>
            <a:r>
              <a:t>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5029200" cy="4160520"/>
          </a:xfrm>
          <a:prstGeom prst="roundRect">
            <a:avLst/>
          </a:prstGeom>
          <a:solidFill>
            <a:srgbClr val="F8FBFF"/>
          </a:solidFill>
          <a:ln>
            <a:solidFill>
              <a:srgbClr val="E5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44752"/>
            <a:ext cx="4251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C67FF"/>
                </a:solidFill>
                <a:latin typeface="Microsoft YaHei"/>
              </a:rPr>
              <a:t>追问预案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65960"/>
            <a:ext cx="4315968" cy="1874519"/>
          </a:xfrm>
          <a:prstGeom prst="roundRect">
            <a:avLst/>
          </a:prstGeom>
          <a:solidFill>
            <a:srgbClr val="E5F0FF"/>
          </a:solidFill>
          <a:ln>
            <a:solidFill>
              <a:srgbClr val="BC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C67FF"/>
                </a:solidFill>
                <a:latin typeface="Microsoft YaHei"/>
              </a:rPr>
              <a:t>放论文图 / 流程 / 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087368"/>
            <a:ext cx="43159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可靠性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样本量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对照实验</a:t>
            </a:r>
          </a:p>
          <a:p>
            <a:pPr>
              <a:defRPr sz="1500">
                <a:solidFill>
                  <a:srgbClr val="252D3C"/>
                </a:solidFill>
                <a:latin typeface="Microsoft YaHei"/>
              </a:defRPr>
            </a:pPr>
            <a:r>
              <a:t>泛化能力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44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A768C"/>
                </a:solidFill>
                <a:latin typeface="Microsoft YaHei"/>
              </a:rPr>
              <a:t>边界提醒：所有数据、图注和结论必须回原文核对；这只是组会草稿，不是最终版。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